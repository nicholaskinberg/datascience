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Nunito"/>
      <p:regular r:id="rId16"/>
      <p:bold r:id="rId17"/>
      <p:italic r:id="rId18"/>
      <p:boldItalic r:id="rId19"/>
    </p:embeddedFont>
    <p:embeddedFont>
      <p:font typeface="Maven Pro"/>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venPro-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MavenPro-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bold.fntdata"/><Relationship Id="rId16" Type="http://schemas.openxmlformats.org/officeDocument/2006/relationships/font" Target="fonts/Nunito-regular.fntdata"/><Relationship Id="rId5" Type="http://schemas.openxmlformats.org/officeDocument/2006/relationships/notesMaster" Target="notesMasters/notesMaster1.xml"/><Relationship Id="rId19" Type="http://schemas.openxmlformats.org/officeDocument/2006/relationships/font" Target="fonts/Nunito-boldItalic.fntdata"/><Relationship Id="rId6" Type="http://schemas.openxmlformats.org/officeDocument/2006/relationships/slide" Target="slides/slide1.xml"/><Relationship Id="rId18" Type="http://schemas.openxmlformats.org/officeDocument/2006/relationships/font" Target="fonts/Nuni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9" name="Shape 279"/>
        <p:cNvGrpSpPr/>
        <p:nvPr/>
      </p:nvGrpSpPr>
      <p:grpSpPr>
        <a:xfrm>
          <a:off x="0" y="0"/>
          <a:ext cx="0" cy="0"/>
          <a:chOff x="0" y="0"/>
          <a:chExt cx="0" cy="0"/>
        </a:xfrm>
      </p:grpSpPr>
      <p:sp>
        <p:nvSpPr>
          <p:cNvPr id="280" name="Google Shape;280;g75a3f338c1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75a3f338c1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5" name="Shape 285"/>
        <p:cNvGrpSpPr/>
        <p:nvPr/>
      </p:nvGrpSpPr>
      <p:grpSpPr>
        <a:xfrm>
          <a:off x="0" y="0"/>
          <a:ext cx="0" cy="0"/>
          <a:chOff x="0" y="0"/>
          <a:chExt cx="0" cy="0"/>
        </a:xfrm>
      </p:grpSpPr>
      <p:sp>
        <p:nvSpPr>
          <p:cNvPr id="286" name="Google Shape;286;g75a3f338c1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75a3f338c1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1" name="Shape 291"/>
        <p:cNvGrpSpPr/>
        <p:nvPr/>
      </p:nvGrpSpPr>
      <p:grpSpPr>
        <a:xfrm>
          <a:off x="0" y="0"/>
          <a:ext cx="0" cy="0"/>
          <a:chOff x="0" y="0"/>
          <a:chExt cx="0" cy="0"/>
        </a:xfrm>
      </p:grpSpPr>
      <p:sp>
        <p:nvSpPr>
          <p:cNvPr id="292" name="Google Shape;292;g75a3f338c1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75a3f338c1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7" name="Shape 297"/>
        <p:cNvGrpSpPr/>
        <p:nvPr/>
      </p:nvGrpSpPr>
      <p:grpSpPr>
        <a:xfrm>
          <a:off x="0" y="0"/>
          <a:ext cx="0" cy="0"/>
          <a:chOff x="0" y="0"/>
          <a:chExt cx="0" cy="0"/>
        </a:xfrm>
      </p:grpSpPr>
      <p:sp>
        <p:nvSpPr>
          <p:cNvPr id="298" name="Google Shape;298;g75a3f338c1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75a3f338c1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3" name="Shape 303"/>
        <p:cNvGrpSpPr/>
        <p:nvPr/>
      </p:nvGrpSpPr>
      <p:grpSpPr>
        <a:xfrm>
          <a:off x="0" y="0"/>
          <a:ext cx="0" cy="0"/>
          <a:chOff x="0" y="0"/>
          <a:chExt cx="0" cy="0"/>
        </a:xfrm>
      </p:grpSpPr>
      <p:sp>
        <p:nvSpPr>
          <p:cNvPr id="304" name="Google Shape;304;g7a8f8843d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7a8f8843d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9" name="Shape 309"/>
        <p:cNvGrpSpPr/>
        <p:nvPr/>
      </p:nvGrpSpPr>
      <p:grpSpPr>
        <a:xfrm>
          <a:off x="0" y="0"/>
          <a:ext cx="0" cy="0"/>
          <a:chOff x="0" y="0"/>
          <a:chExt cx="0" cy="0"/>
        </a:xfrm>
      </p:grpSpPr>
      <p:sp>
        <p:nvSpPr>
          <p:cNvPr id="310" name="Google Shape;310;g7a8f8843d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7a8f8843d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5" name="Shape 315"/>
        <p:cNvGrpSpPr/>
        <p:nvPr/>
      </p:nvGrpSpPr>
      <p:grpSpPr>
        <a:xfrm>
          <a:off x="0" y="0"/>
          <a:ext cx="0" cy="0"/>
          <a:chOff x="0" y="0"/>
          <a:chExt cx="0" cy="0"/>
        </a:xfrm>
      </p:grpSpPr>
      <p:sp>
        <p:nvSpPr>
          <p:cNvPr id="316" name="Google Shape;316;g7a8f8843d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7a8f8843d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1" name="Shape 321"/>
        <p:cNvGrpSpPr/>
        <p:nvPr/>
      </p:nvGrpSpPr>
      <p:grpSpPr>
        <a:xfrm>
          <a:off x="0" y="0"/>
          <a:ext cx="0" cy="0"/>
          <a:chOff x="0" y="0"/>
          <a:chExt cx="0" cy="0"/>
        </a:xfrm>
      </p:grpSpPr>
      <p:sp>
        <p:nvSpPr>
          <p:cNvPr id="322" name="Google Shape;322;g7a8f8843d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7a8f8843d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7" name="Shape 327"/>
        <p:cNvGrpSpPr/>
        <p:nvPr/>
      </p:nvGrpSpPr>
      <p:grpSpPr>
        <a:xfrm>
          <a:off x="0" y="0"/>
          <a:ext cx="0" cy="0"/>
          <a:chOff x="0" y="0"/>
          <a:chExt cx="0" cy="0"/>
        </a:xfrm>
      </p:grpSpPr>
      <p:sp>
        <p:nvSpPr>
          <p:cNvPr id="328" name="Google Shape;328;g7a8f8843d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7a8f8843d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1600"/>
              </a:spcBef>
              <a:spcAft>
                <a:spcPts val="0"/>
              </a:spcAft>
              <a:buClr>
                <a:schemeClr val="lt1"/>
              </a:buClr>
              <a:buSzPts val="1100"/>
              <a:buChar char="○"/>
              <a:defRPr>
                <a:solidFill>
                  <a:schemeClr val="lt1"/>
                </a:solidFill>
              </a:defRPr>
            </a:lvl2pPr>
            <a:lvl3pPr indent="-298450" lvl="2" marL="1371600" algn="ctr">
              <a:spcBef>
                <a:spcPts val="1600"/>
              </a:spcBef>
              <a:spcAft>
                <a:spcPts val="0"/>
              </a:spcAft>
              <a:buClr>
                <a:schemeClr val="lt1"/>
              </a:buClr>
              <a:buSzPts val="1100"/>
              <a:buChar char="■"/>
              <a:defRPr>
                <a:solidFill>
                  <a:schemeClr val="lt1"/>
                </a:solidFill>
              </a:defRPr>
            </a:lvl3pPr>
            <a:lvl4pPr indent="-298450" lvl="3" marL="1828800" algn="ctr">
              <a:spcBef>
                <a:spcPts val="1600"/>
              </a:spcBef>
              <a:spcAft>
                <a:spcPts val="0"/>
              </a:spcAft>
              <a:buClr>
                <a:schemeClr val="lt1"/>
              </a:buClr>
              <a:buSzPts val="1100"/>
              <a:buChar char="●"/>
              <a:defRPr>
                <a:solidFill>
                  <a:schemeClr val="lt1"/>
                </a:solidFill>
              </a:defRPr>
            </a:lvl4pPr>
            <a:lvl5pPr indent="-298450" lvl="4" marL="2286000" algn="ctr">
              <a:spcBef>
                <a:spcPts val="1600"/>
              </a:spcBef>
              <a:spcAft>
                <a:spcPts val="0"/>
              </a:spcAft>
              <a:buClr>
                <a:schemeClr val="lt1"/>
              </a:buClr>
              <a:buSzPts val="1100"/>
              <a:buChar char="○"/>
              <a:defRPr>
                <a:solidFill>
                  <a:schemeClr val="lt1"/>
                </a:solidFill>
              </a:defRPr>
            </a:lvl5pPr>
            <a:lvl6pPr indent="-298450" lvl="5" marL="2743200" algn="ctr">
              <a:spcBef>
                <a:spcPts val="1600"/>
              </a:spcBef>
              <a:spcAft>
                <a:spcPts val="0"/>
              </a:spcAft>
              <a:buClr>
                <a:schemeClr val="lt1"/>
              </a:buClr>
              <a:buSzPts val="1100"/>
              <a:buChar char="■"/>
              <a:defRPr>
                <a:solidFill>
                  <a:schemeClr val="lt1"/>
                </a:solidFill>
              </a:defRPr>
            </a:lvl6pPr>
            <a:lvl7pPr indent="-298450" lvl="6" marL="3200400" algn="ctr">
              <a:spcBef>
                <a:spcPts val="1600"/>
              </a:spcBef>
              <a:spcAft>
                <a:spcPts val="0"/>
              </a:spcAft>
              <a:buClr>
                <a:schemeClr val="lt1"/>
              </a:buClr>
              <a:buSzPts val="1100"/>
              <a:buChar char="●"/>
              <a:defRPr>
                <a:solidFill>
                  <a:schemeClr val="lt1"/>
                </a:solidFill>
              </a:defRPr>
            </a:lvl7pPr>
            <a:lvl8pPr indent="-298450" lvl="7" marL="3657600" algn="ctr">
              <a:spcBef>
                <a:spcPts val="1600"/>
              </a:spcBef>
              <a:spcAft>
                <a:spcPts val="0"/>
              </a:spcAft>
              <a:buClr>
                <a:schemeClr val="lt1"/>
              </a:buClr>
              <a:buSzPts val="1100"/>
              <a:buChar char="○"/>
              <a:defRPr>
                <a:solidFill>
                  <a:schemeClr val="lt1"/>
                </a:solidFill>
              </a:defRPr>
            </a:lvl8pPr>
            <a:lvl9pPr indent="-298450" lvl="8" marL="4114800" algn="ctr">
              <a:spcBef>
                <a:spcPts val="1600"/>
              </a:spcBef>
              <a:spcAft>
                <a:spcPts val="160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1600"/>
              </a:spcBef>
              <a:spcAft>
                <a:spcPts val="160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Low-Rent Buildings and Crime Locations in New York City</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Nicholas Kinberg</a:t>
            </a:r>
            <a:endParaRPr/>
          </a:p>
          <a:p>
            <a:pPr indent="0" lvl="0" marL="0" rtl="0" algn="l">
              <a:spcBef>
                <a:spcPts val="0"/>
              </a:spcBef>
              <a:spcAft>
                <a:spcPts val="0"/>
              </a:spcAft>
              <a:buNone/>
            </a:pPr>
            <a:r>
              <a:rPr lang="en"/>
              <a:t>December 10, 2019</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t>
            </a:r>
            <a:endParaRPr/>
          </a:p>
        </p:txBody>
      </p:sp>
      <p:sp>
        <p:nvSpPr>
          <p:cNvPr id="284" name="Google Shape;284;p14"/>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York City has, since the mid-1990s, assuaged its crime problem. However, increasing gentrification in Manhattan and the other boroughs of the city has pushed poverty to the geographic and social margins, making crime a problem for just the poor instead of the rich and poor. </a:t>
            </a:r>
            <a:endParaRPr/>
          </a:p>
          <a:p>
            <a:pPr indent="0" lvl="0" marL="0" rtl="0" algn="l">
              <a:spcBef>
                <a:spcPts val="1600"/>
              </a:spcBef>
              <a:spcAft>
                <a:spcPts val="0"/>
              </a:spcAft>
              <a:buNone/>
            </a:pPr>
            <a:r>
              <a:rPr lang="en"/>
              <a:t>How can New York City address the problems of poverty and crime such that those of lesser means can live comfortable lives without the scourge of predation?</a:t>
            </a:r>
            <a:endParaRPr/>
          </a:p>
          <a:p>
            <a:pPr indent="0" lvl="0" marL="0" rtl="0" algn="l">
              <a:spcBef>
                <a:spcPts val="1600"/>
              </a:spcBef>
              <a:spcAft>
                <a:spcPts val="1600"/>
              </a:spcAft>
              <a:buNone/>
            </a:pPr>
            <a:r>
              <a:rPr lang="en"/>
              <a:t>Crime is defined as acts from a robbery to a homicide. Crime locations do not include the locations at which people committed low-level crimes like smoking marijuana.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Audience</a:t>
            </a:r>
            <a:endParaRPr/>
          </a:p>
        </p:txBody>
      </p:sp>
      <p:sp>
        <p:nvSpPr>
          <p:cNvPr id="290" name="Google Shape;290;p15"/>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The audience of this project will be the New York City government, as well as the residents of Harlem, the Bronx, far upper and lower Manhattan, eastern Queens, and western Brooklyn.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Used</a:t>
            </a:r>
            <a:endParaRPr/>
          </a:p>
        </p:txBody>
      </p:sp>
      <p:sp>
        <p:nvSpPr>
          <p:cNvPr id="296" name="Google Shape;296;p16"/>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used crime, building, and parcel data from NYC.gov Spatial Data, the USA Geocoding Service, and Columbia GIS Data. I put these data on a map with WGS84(DD). I downloaded a map of New York City from Washington University’s GISData drive.</a:t>
            </a:r>
            <a:endParaRPr/>
          </a:p>
          <a:p>
            <a:pPr indent="0" lvl="0" marL="0" rtl="0" algn="l">
              <a:spcBef>
                <a:spcPts val="1600"/>
              </a:spcBef>
              <a:spcAft>
                <a:spcPts val="1600"/>
              </a:spcAft>
              <a:buNone/>
            </a:pPr>
            <a:r>
              <a:rPr lang="en"/>
              <a:t>To supplement my policy analysis, I included peace research from my course “International Conflict Management and Resolution.” More specifically, I related my analysis to </a:t>
            </a:r>
            <a:r>
              <a:rPr i="1" lang="en"/>
              <a:t>How Wars End</a:t>
            </a:r>
            <a:r>
              <a:rPr lang="en"/>
              <a:t> and research from the Center for Strategic and International Studies (CSIS).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Methods</a:t>
            </a:r>
            <a:endParaRPr/>
          </a:p>
        </p:txBody>
      </p:sp>
      <p:sp>
        <p:nvSpPr>
          <p:cNvPr id="302" name="Google Shape;302;p17"/>
          <p:cNvSpPr txBox="1"/>
          <p:nvPr>
            <p:ph idx="1" type="body"/>
          </p:nvPr>
        </p:nvSpPr>
        <p:spPr>
          <a:xfrm>
            <a:off x="1303800" y="1300950"/>
            <a:ext cx="7030500" cy="254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stored relative pathways while working on my maps. I collected data by scouring NYC.gov Spatial Data and Columbia GIS Data. </a:t>
            </a:r>
            <a:r>
              <a:rPr lang="en"/>
              <a:t>To find the parcel and building data, I also found this through NYC.gov. </a:t>
            </a:r>
            <a:r>
              <a:rPr lang="en"/>
              <a:t>NYC.gov is a better source at which to find crime statistics for the entire city, while Columbia GIS Data is optimal for finding crime statistics for Manhattan. To find a map of New York City, I searched on Washington University’s GISData drive. To put all data on the same plane, I used the WGS84(DD) coordinate system for both maps. </a:t>
            </a:r>
            <a:r>
              <a:rPr lang="en"/>
              <a:t>I used CSV files and shapefiles, as well as a geodatabase I downloaded from NYC.gov, to visualize the data.</a:t>
            </a:r>
            <a:endParaRPr/>
          </a:p>
          <a:p>
            <a:pPr indent="0" lvl="0" marL="0" rtl="0" algn="l">
              <a:spcBef>
                <a:spcPts val="1600"/>
              </a:spcBef>
              <a:spcAft>
                <a:spcPts val="1600"/>
              </a:spcAft>
              <a:buNone/>
            </a:pPr>
            <a:r>
              <a:rPr lang="en"/>
              <a:t>To find low-rent buildings near crime locations, I first selected parcels and buildings 0.1 miles or closer to crime locations. I then created a new layer for these two items and assumed that buildings with lower elevation correlated with lower rent. I made this assumption because lower buildings are much more common in low-rent cities than high-rises. I then deleted all buildings with an elevation above 50 feet for both maps. After this, I emphasized areas with high crime incidents.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6" name="Shape 306"/>
        <p:cNvGrpSpPr/>
        <p:nvPr/>
      </p:nvGrpSpPr>
      <p:grpSpPr>
        <a:xfrm>
          <a:off x="0" y="0"/>
          <a:ext cx="0" cy="0"/>
          <a:chOff x="0" y="0"/>
          <a:chExt cx="0" cy="0"/>
        </a:xfrm>
      </p:grpSpPr>
      <p:pic>
        <p:nvPicPr>
          <p:cNvPr id="307" name="Google Shape;307;p18"/>
          <p:cNvPicPr preferRelativeResize="0"/>
          <p:nvPr/>
        </p:nvPicPr>
        <p:blipFill>
          <a:blip r:embed="rId3">
            <a:alphaModFix/>
          </a:blip>
          <a:stretch>
            <a:fillRect/>
          </a:stretch>
        </p:blipFill>
        <p:spPr>
          <a:xfrm>
            <a:off x="0" y="0"/>
            <a:ext cx="3225801" cy="5143499"/>
          </a:xfrm>
          <a:prstGeom prst="rect">
            <a:avLst/>
          </a:prstGeom>
          <a:noFill/>
          <a:ln>
            <a:noFill/>
          </a:ln>
        </p:spPr>
      </p:pic>
      <p:pic>
        <p:nvPicPr>
          <p:cNvPr id="308" name="Google Shape;308;p18"/>
          <p:cNvPicPr preferRelativeResize="0"/>
          <p:nvPr/>
        </p:nvPicPr>
        <p:blipFill>
          <a:blip r:embed="rId4">
            <a:alphaModFix/>
          </a:blip>
          <a:stretch>
            <a:fillRect/>
          </a:stretch>
        </p:blipFill>
        <p:spPr>
          <a:xfrm>
            <a:off x="3225800" y="0"/>
            <a:ext cx="5918201" cy="514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2" name="Shape 312"/>
        <p:cNvGrpSpPr/>
        <p:nvPr/>
      </p:nvGrpSpPr>
      <p:grpSpPr>
        <a:xfrm>
          <a:off x="0" y="0"/>
          <a:ext cx="0" cy="0"/>
          <a:chOff x="0" y="0"/>
          <a:chExt cx="0" cy="0"/>
        </a:xfrm>
      </p:grpSpPr>
      <p:sp>
        <p:nvSpPr>
          <p:cNvPr id="313" name="Google Shape;313;p19"/>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Policy Recommendations</a:t>
            </a:r>
            <a:endParaRPr/>
          </a:p>
        </p:txBody>
      </p:sp>
      <p:sp>
        <p:nvSpPr>
          <p:cNvPr id="314" name="Google Shape;314;p19"/>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with peace research, crime and the propensity of people to profit from predation decrease as the prevalence of third-party actors increases. People are unable to prey on each other if law enforcement provides an effective deterrent to initiating crime (Reiter, 2009). New York City’s government should increase police presence in far upper and lower Manhattan, in Harlem and the Bronx, in eastern Queens, and in western Brooklyn. Furthermore, these police units should form substantive relationships with their respective communities to root out crime.</a:t>
            </a:r>
            <a:endParaRPr/>
          </a:p>
          <a:p>
            <a:pPr indent="0" lvl="0" marL="0" rtl="0" algn="l">
              <a:spcBef>
                <a:spcPts val="1600"/>
              </a:spcBef>
              <a:spcAft>
                <a:spcPts val="1600"/>
              </a:spcAft>
              <a:buNone/>
            </a:pPr>
            <a:r>
              <a:rPr lang="en"/>
              <a:t>From there, crime will dissipate and communities will strengthen, thus producing higher income (Cusack, 2013). These better lives will lead to the dissipation of poverty and increase the standard of living for the aforementioned locations in New York City.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8" name="Shape 318"/>
        <p:cNvGrpSpPr/>
        <p:nvPr/>
      </p:nvGrpSpPr>
      <p:grpSpPr>
        <a:xfrm>
          <a:off x="0" y="0"/>
          <a:ext cx="0" cy="0"/>
          <a:chOff x="0" y="0"/>
          <a:chExt cx="0" cy="0"/>
        </a:xfrm>
      </p:grpSpPr>
      <p:sp>
        <p:nvSpPr>
          <p:cNvPr id="319" name="Google Shape;319;p20"/>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Steps</a:t>
            </a:r>
            <a:endParaRPr/>
          </a:p>
        </p:txBody>
      </p:sp>
      <p:sp>
        <p:nvSpPr>
          <p:cNvPr id="320" name="Google Shape;320;p20"/>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Check on increased police presence program one year after initiation</a:t>
            </a:r>
            <a:endParaRPr/>
          </a:p>
          <a:p>
            <a:pPr indent="-311150" lvl="0" marL="457200" rtl="0" algn="l">
              <a:spcBef>
                <a:spcPts val="0"/>
              </a:spcBef>
              <a:spcAft>
                <a:spcPts val="0"/>
              </a:spcAft>
              <a:buSzPts val="1300"/>
              <a:buChar char="●"/>
            </a:pPr>
            <a:r>
              <a:rPr lang="en"/>
              <a:t>Compare crime levels in 2020 to those in 2018</a:t>
            </a:r>
            <a:endParaRPr/>
          </a:p>
          <a:p>
            <a:pPr indent="-311150" lvl="0" marL="457200" rtl="0" algn="l">
              <a:spcBef>
                <a:spcPts val="0"/>
              </a:spcBef>
              <a:spcAft>
                <a:spcPts val="0"/>
              </a:spcAft>
              <a:buSzPts val="1300"/>
              <a:buChar char="●"/>
            </a:pPr>
            <a:r>
              <a:rPr lang="en"/>
              <a:t>If crime levels are lower, continue program and work with communities to address economic grievances</a:t>
            </a:r>
            <a:endParaRPr/>
          </a:p>
          <a:p>
            <a:pPr indent="-311150" lvl="0" marL="457200" rtl="0" algn="l">
              <a:spcBef>
                <a:spcPts val="0"/>
              </a:spcBef>
              <a:spcAft>
                <a:spcPts val="0"/>
              </a:spcAft>
              <a:buSzPts val="1300"/>
              <a:buChar char="●"/>
            </a:pPr>
            <a:r>
              <a:rPr lang="en"/>
              <a:t>Produce a report on economic grievances in far upper and lower Manhattan, Harlem and the Bronx, eastern Queens and western Brooklyn by 2022</a:t>
            </a:r>
            <a:endParaRPr/>
          </a:p>
          <a:p>
            <a:pPr indent="-311150" lvl="0" marL="457200" rtl="0" algn="l">
              <a:spcBef>
                <a:spcPts val="0"/>
              </a:spcBef>
              <a:spcAft>
                <a:spcPts val="0"/>
              </a:spcAft>
              <a:buSzPts val="1300"/>
              <a:buChar char="●"/>
            </a:pPr>
            <a:r>
              <a:rPr lang="en"/>
              <a:t>Implement policy recommendations from report to improve living standards in these locations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4" name="Shape 324"/>
        <p:cNvGrpSpPr/>
        <p:nvPr/>
      </p:nvGrpSpPr>
      <p:grpSpPr>
        <a:xfrm>
          <a:off x="0" y="0"/>
          <a:ext cx="0" cy="0"/>
          <a:chOff x="0" y="0"/>
          <a:chExt cx="0" cy="0"/>
        </a:xfrm>
      </p:grpSpPr>
      <p:sp>
        <p:nvSpPr>
          <p:cNvPr id="325" name="Google Shape;325;p21"/>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Challenges Encountered</a:t>
            </a:r>
            <a:endParaRPr/>
          </a:p>
        </p:txBody>
      </p:sp>
      <p:sp>
        <p:nvSpPr>
          <p:cNvPr id="326" name="Google Shape;326;p21"/>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I still have difficulty mapping data onto maps. This is because I haven’t practiced doing this enough.</a:t>
            </a:r>
            <a:endParaRPr/>
          </a:p>
          <a:p>
            <a:pPr indent="-311150" lvl="0" marL="457200" rtl="0" algn="l">
              <a:spcBef>
                <a:spcPts val="0"/>
              </a:spcBef>
              <a:spcAft>
                <a:spcPts val="0"/>
              </a:spcAft>
              <a:buSzPts val="1300"/>
              <a:buChar char="●"/>
            </a:pPr>
            <a:r>
              <a:rPr lang="en"/>
              <a:t>Data on buildings and parcels didn’t include information on how much each parcel or building costed, unlike the information with which we worked to create maps on St. Louis City and County.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0" name="Shape 330"/>
        <p:cNvGrpSpPr/>
        <p:nvPr/>
      </p:nvGrpSpPr>
      <p:grpSpPr>
        <a:xfrm>
          <a:off x="0" y="0"/>
          <a:ext cx="0" cy="0"/>
          <a:chOff x="0" y="0"/>
          <a:chExt cx="0" cy="0"/>
        </a:xfrm>
      </p:grpSpPr>
      <p:sp>
        <p:nvSpPr>
          <p:cNvPr id="331" name="Google Shape;331;p22"/>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 Cited</a:t>
            </a:r>
            <a:endParaRPr/>
          </a:p>
        </p:txBody>
      </p:sp>
      <p:sp>
        <p:nvSpPr>
          <p:cNvPr id="332" name="Google Shape;332;p22"/>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333333"/>
                </a:solidFill>
                <a:highlight>
                  <a:srgbClr val="FFFFFF"/>
                </a:highlight>
              </a:rPr>
              <a:t>Cusack, Jake, and Matt Tilleard. “Investment Facilitation in Transitional and Fragile States.” </a:t>
            </a:r>
            <a:endParaRPr sz="1200">
              <a:solidFill>
                <a:srgbClr val="333333"/>
              </a:solidFill>
              <a:highlight>
                <a:srgbClr val="FFFFFF"/>
              </a:highlight>
            </a:endParaRPr>
          </a:p>
          <a:p>
            <a:pPr indent="0" lvl="0" marL="457200" rtl="0" algn="l">
              <a:lnSpc>
                <a:spcPct val="100000"/>
              </a:lnSpc>
              <a:spcBef>
                <a:spcPts val="0"/>
              </a:spcBef>
              <a:spcAft>
                <a:spcPts val="0"/>
              </a:spcAft>
              <a:buNone/>
            </a:pPr>
            <a:r>
              <a:rPr i="1" lang="en" sz="1200">
                <a:solidFill>
                  <a:srgbClr val="333333"/>
                </a:solidFill>
                <a:highlight>
                  <a:srgbClr val="FFFFFF"/>
                </a:highlight>
              </a:rPr>
              <a:t>Investment Facilitation in Transitional and Fragile States</a:t>
            </a:r>
            <a:r>
              <a:rPr lang="en" sz="1200">
                <a:solidFill>
                  <a:srgbClr val="333333"/>
                </a:solidFill>
                <a:highlight>
                  <a:srgbClr val="FFFFFF"/>
                </a:highlight>
              </a:rPr>
              <a:t>. Center for Strategic and International Studies, December 2013. https://csis-prod.s3.amazonaws.com/s3fs-public/legacy_files/files/publication/131213_Cusack_InvestmentFacilitation_Web.pdf.</a:t>
            </a:r>
            <a:endParaRPr sz="1000">
              <a:solidFill>
                <a:srgbClr val="333333"/>
              </a:solidFill>
              <a:highlight>
                <a:srgbClr val="FFFFFF"/>
              </a:highlight>
            </a:endParaRPr>
          </a:p>
          <a:p>
            <a:pPr indent="0" lvl="0" marL="0" rtl="0" algn="l">
              <a:spcBef>
                <a:spcPts val="0"/>
              </a:spcBef>
              <a:spcAft>
                <a:spcPts val="1600"/>
              </a:spcAft>
              <a:buNone/>
            </a:pPr>
            <a:r>
              <a:rPr lang="en" sz="1200">
                <a:solidFill>
                  <a:srgbClr val="333333"/>
                </a:solidFill>
                <a:highlight>
                  <a:srgbClr val="FFFFFF"/>
                </a:highlight>
              </a:rPr>
              <a:t>Reiter, Dan. </a:t>
            </a:r>
            <a:r>
              <a:rPr i="1" lang="en" sz="1200">
                <a:solidFill>
                  <a:srgbClr val="333333"/>
                </a:solidFill>
              </a:rPr>
              <a:t>How Wars End</a:t>
            </a:r>
            <a:r>
              <a:rPr lang="en" sz="1200">
                <a:solidFill>
                  <a:srgbClr val="333333"/>
                </a:solidFill>
                <a:highlight>
                  <a:srgbClr val="FFFFFF"/>
                </a:highlight>
              </a:rPr>
              <a:t>. Princeton: Princeton University Press, 2009.</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